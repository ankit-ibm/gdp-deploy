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aff379c7f464e67" /><Relationship Type="http://schemas.openxmlformats.org/package/2006/relationships/metadata/core-properties" Target="/docProps/core.xml" Id="Rad24e67fd93b4db9" /><Relationship Type="http://schemas.openxmlformats.org/officeDocument/2006/relationships/extended-properties" Target="/docProps/app.xml" Id="R25c447c3e45c4913" /><Relationship Type="http://schemas.openxmlformats.org/officeDocument/2006/relationships/custom-properties" Target="/docProps/custom.xml" Id="R15011fb0278e414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bb3303da0d684e0c"/>
  </p:notesMasterIdLst>
  <p:sldIdLst>
    <p:sldId id="256" r:id="Rb2358a7a3c794e95"/>
    <p:sldId id="257" r:id="Rd259638f26bb45df"/>
    <p:sldId id="258" r:id="Rec3d29ae81ec4d56"/>
    <p:sldId id="259" r:id="R6862fd36dcef4664"/>
    <p:sldId id="260" r:id="Ra1e654105c6e429e"/>
    <p:sldId id="261" r:id="R80b9506da9cf4b10"/>
    <p:sldId id="262" r:id="Rd5ca0f96d44e419c"/>
    <p:sldId id="263" r:id="R6b35b7dacc954612"/>
    <p:sldId id="264" r:id="Ra3cf00318e874c26"/>
    <p:sldId id="265" r:id="R0449652eda744be1"/>
    <p:sldId id="266" r:id="Rc19beb70b73b4c5a"/>
    <p:sldId id="267" r:id="R392e3bf752f9430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b2358a7a3c794e95" /><Relationship Type="http://schemas.openxmlformats.org/officeDocument/2006/relationships/notesMaster" Target="/ppt/notesMasters/notesMaster1.xml" Id="Rbb3303da0d684e0c" /><Relationship Type="http://schemas.openxmlformats.org/officeDocument/2006/relationships/slide" Target="/ppt/slides/slide2.xml" Id="Rd259638f26bb45df" /><Relationship Type="http://schemas.openxmlformats.org/officeDocument/2006/relationships/slide" Target="/ppt/slides/slide3.xml" Id="Rec3d29ae81ec4d56" /><Relationship Type="http://schemas.openxmlformats.org/officeDocument/2006/relationships/slide" Target="/ppt/slides/slide4.xml" Id="R6862fd36dcef4664" /><Relationship Type="http://schemas.openxmlformats.org/officeDocument/2006/relationships/slide" Target="/ppt/slides/slide5.xml" Id="Ra1e654105c6e429e" /><Relationship Type="http://schemas.openxmlformats.org/officeDocument/2006/relationships/slide" Target="/ppt/slides/slide6.xml" Id="R80b9506da9cf4b10" /><Relationship Type="http://schemas.openxmlformats.org/officeDocument/2006/relationships/slide" Target="/ppt/slides/slide7.xml" Id="Rd5ca0f96d44e419c" /><Relationship Type="http://schemas.openxmlformats.org/officeDocument/2006/relationships/slide" Target="/ppt/slides/slide8.xml" Id="R6b35b7dacc954612" /><Relationship Type="http://schemas.openxmlformats.org/officeDocument/2006/relationships/slide" Target="/ppt/slides/slide9.xml" Id="Ra3cf00318e874c26" /><Relationship Type="http://schemas.openxmlformats.org/officeDocument/2006/relationships/slide" Target="/ppt/slides/slide10.xml" Id="R0449652eda744be1" /><Relationship Type="http://schemas.openxmlformats.org/officeDocument/2006/relationships/slide" Target="/ppt/slides/slide11.xml" Id="Rc19beb70b73b4c5a" /><Relationship Type="http://schemas.openxmlformats.org/officeDocument/2006/relationships/slide" Target="/ppt/slides/slide12.xml" Id="R392e3bf752f9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53fbd9d50744c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0759b4cf274676" /><Relationship Type="http://schemas.openxmlformats.org/officeDocument/2006/relationships/slide" Target="/ppt/slides/slide1.xml" Id="R2ff4e91abc4a44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403afce3824fad" /><Relationship Type="http://schemas.openxmlformats.org/officeDocument/2006/relationships/slide" Target="/ppt/slides/slide2.xml" Id="Rc4360c18dbb944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50385461ac243bd" /><Relationship Type="http://schemas.openxmlformats.org/officeDocument/2006/relationships/slide" Target="/ppt/slides/slide3.xml" Id="R47942d5e867c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9aa4fec2e974f2d" /><Relationship Type="http://schemas.openxmlformats.org/officeDocument/2006/relationships/slide" Target="/ppt/slides/slide4.xml" Id="R760aa9a2b5434d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301563001b467b" /><Relationship Type="http://schemas.openxmlformats.org/officeDocument/2006/relationships/slide" Target="/ppt/slides/slide5.xml" Id="R891d338e75e9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b4e980527f24ab4" /><Relationship Type="http://schemas.openxmlformats.org/officeDocument/2006/relationships/slide" Target="/ppt/slides/slide6.xml" Id="Rc02b23b40ac54f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ec4099fba04167" /><Relationship Type="http://schemas.openxmlformats.org/officeDocument/2006/relationships/slide" Target="/ppt/slides/slide7.xml" Id="Raefff59e0a7b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76782811dd450a" /><Relationship Type="http://schemas.openxmlformats.org/officeDocument/2006/relationships/slide" Target="/ppt/slides/slide8.xml" Id="R18a1ea54936142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960a033a124691" /><Relationship Type="http://schemas.openxmlformats.org/officeDocument/2006/relationships/slide" Target="/ppt/slides/slide9.xml" Id="Rbc99b3eb849c4c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6ac1ac574c1410e" /><Relationship Type="http://schemas.openxmlformats.org/officeDocument/2006/relationships/slide" Target="/ppt/slides/slide10.xml" Id="R22fec2a9cee945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3ae43c0bd24e1d" /><Relationship Type="http://schemas.openxmlformats.org/officeDocument/2006/relationships/slide" Target="/ppt/slides/slide11.xml" Id="R9ac01efb927043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c6da760d8e04ad6" /><Relationship Type="http://schemas.openxmlformats.org/officeDocument/2006/relationships/slide" Target="/ppt/slides/slide12.xml" Id="R2b8da079d2744b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Corrected: removed overlapping icons on Terraform/Ansible/Bash labels, fixed S-TAP capitalisation.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/ scope slide.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 overview showing two main layers: infrastructure (Terraform) and application (Ansible + Python guardapi).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Platform coverage: vSphere (ISO from Datastore), AWS, GCP, Azure. Authentication environment variables for each.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list-images.py supports vsphere (pyVmomi or govc), aws (boto3), gcp (google-cloud-compute), azure (azure-mgmt-compute).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8-step lifecycle from credentials to live Guardium with agents reporting.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Registration uses Guardium 12.x REST API. Policies deployed via POST /restAPI/policy + /restAPI/install_policy.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S-TAP installation methods. GIM is IBM recommended for enterprise scale. Decline automation = manual one-liner printed.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repository layout as deployed on root@171.78.153.147:/root/guardium-deployment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Full CLI reference. Destroy requires GUARDIUM_ALLOW_DESTROY=yes and typing DESTROY at the prompt.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Security controls summary.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da850412447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29c8a4afde4a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f9098702849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73e47b1ec4b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60851f59c464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c253b00c0ae4d9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8f9e443f44332" /><Relationship Type="http://schemas.openxmlformats.org/officeDocument/2006/relationships/notesSlide" Target="/ppt/notesSlides/notesSlide1.xml" Id="R7850da2a0a45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db0d3c194dfc" /><Relationship Type="http://schemas.openxmlformats.org/officeDocument/2006/relationships/notesSlide" Target="/ppt/notesSlides/notesSlide2.xml" Id="R5c2fcac3cdc340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bc6c025a048e5" /><Relationship Type="http://schemas.openxmlformats.org/officeDocument/2006/relationships/notesSlide" Target="/ppt/notesSlides/notesSlide3.xml" Id="R10346b06b7cf49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7e0147e9e4f64" /><Relationship Type="http://schemas.openxmlformats.org/officeDocument/2006/relationships/notesSlide" Target="/ppt/notesSlides/notesSlide4.xml" Id="Rf3e5a36b2847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03c6344d14a48" /><Relationship Type="http://schemas.openxmlformats.org/officeDocument/2006/relationships/notesSlide" Target="/ppt/notesSlides/notesSlide5.xml" Id="Ree11b5b8909746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e7eafb75b4960" /><Relationship Type="http://schemas.openxmlformats.org/officeDocument/2006/relationships/notesSlide" Target="/ppt/notesSlides/notesSlide6.xml" Id="R9e0e0dc7c56b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e2f87fc1944c6" /><Relationship Type="http://schemas.openxmlformats.org/officeDocument/2006/relationships/notesSlide" Target="/ppt/notesSlides/notesSlide7.xml" Id="R6d8aedeb5c2142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5447badf24304" /><Relationship Type="http://schemas.openxmlformats.org/officeDocument/2006/relationships/notesSlide" Target="/ppt/notesSlides/notesSlide8.xml" Id="Rcf055ef0dfc547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2826cb96a4c5b" /><Relationship Type="http://schemas.openxmlformats.org/officeDocument/2006/relationships/notesSlide" Target="/ppt/notesSlides/notesSlide9.xml" Id="Re43de845f22c47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9fb00697249c2" /><Relationship Type="http://schemas.openxmlformats.org/officeDocument/2006/relationships/notesSlide" Target="/ppt/notesSlides/notesSlide10.xml" Id="R4c9c0962fa994b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92958d8a4864" /><Relationship Type="http://schemas.openxmlformats.org/officeDocument/2006/relationships/notesSlide" Target="/ppt/notesSlides/notesSlide11.xml" Id="Reaf01a17c20d4d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910cadcc740b9" /><Relationship Type="http://schemas.openxmlformats.org/officeDocument/2006/relationships/notesSlide" Target="/ppt/notesSlides/notesSlide12.xml" Id="R6b2c79f4d12340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504000"/>
            <a:ext cx="10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IBM GUARDIUM — DEPLOYMENT AUTOMATION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08000"/>
            <a:ext cx="1044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Guardium Data Protection</a:t>
            </a:r>
          </a:p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Deployment &amp; Agent Automation</a:t>
            </a:r>
          </a:p>
        </p:txBody>
      </p:sp>
      <p:sp>
        <p:nvSpPr>
          <p:cNvPr id="100002" name="Sub"/>
          <p:cNvSpPr txBox="1"/>
          <p:nvPr/>
        </p:nvSpPr>
        <p:spPr>
          <a:xfrm xmlns:a="http://schemas.openxmlformats.org/drawingml/2006/main">
            <a:off x="720000" y="3060000"/>
            <a:ext cx="104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8B8C8"/>
                </a:solidFill>
              </a:rPr>
              <a:t>Automating Collector, Aggregator, Central Manager, GIM, and S-TAP Deployment across On-Premises and Multi-Cloud</a:t>
            </a:r>
          </a:p>
        </p:txBody>
      </p:sp>
      <p:sp>
        <p:nvSpPr>
          <p:cNvPr id="100003" name="T1"/>
          <p:cNvSpPr txBox="1"/>
          <p:nvPr/>
        </p:nvSpPr>
        <p:spPr>
          <a:xfrm xmlns:a="http://schemas.openxmlformats.org/drawingml/2006/main">
            <a:off x="720000" y="4032000"/>
            <a:ext cx="234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Terraform / OpenTofu</a:t>
            </a:r>
          </a:p>
        </p:txBody>
      </p:sp>
      <p:sp>
        <p:nvSpPr>
          <p:cNvPr id="100004" name="T2"/>
          <p:cNvSpPr txBox="1"/>
          <p:nvPr/>
        </p:nvSpPr>
        <p:spPr>
          <a:xfrm xmlns:a="http://schemas.openxmlformats.org/drawingml/2006/main">
            <a:off x="3240000" y="4032000"/>
            <a:ext cx="198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Ansible Playbooks</a:t>
            </a:r>
          </a:p>
        </p:txBody>
      </p:sp>
      <p:sp>
        <p:nvSpPr>
          <p:cNvPr id="100005" name="T3"/>
          <p:cNvSpPr txBox="1"/>
          <p:nvPr/>
        </p:nvSpPr>
        <p:spPr>
          <a:xfrm xmlns:a="http://schemas.openxmlformats.org/drawingml/2006/main">
            <a:off x="5472000" y="4032000"/>
            <a:ext cx="2088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Bash Orchestration</a:t>
            </a:r>
          </a:p>
        </p:txBody>
      </p:sp>
      <p:sp>
        <p:nvSpPr>
          <p:cNvPr id="100006" name="T4"/>
          <p:cNvSpPr txBox="1"/>
          <p:nvPr/>
        </p:nvSpPr>
        <p:spPr>
          <a:xfrm xmlns:a="http://schemas.openxmlformats.org/drawingml/2006/main">
            <a:off x="7776000" y="4032000"/>
            <a:ext cx="3420000" cy="3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E4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AWS  •  Azure  •  GCP  •  On-Prem vSphere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07" name="Sec"/>
          <p:cNvSpPr txBox="1"/>
          <p:nvPr/>
        </p:nvSpPr>
        <p:spPr>
          <a:xfrm xmlns:a="http://schemas.openxmlformats.org/drawingml/2006/main">
            <a:off x="720000" y="432000"/>
            <a:ext cx="28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AGENDA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What This Automation Covers</a:t>
            </a:r>
          </a:p>
        </p:txBody>
      </p:sp>
      <p:sp>
        <p:nvSpPr>
          <p:cNvPr id="100009" name="A1"/>
          <p:cNvSpPr txBox="1"/>
          <p:nvPr/>
        </p:nvSpPr>
        <p:spPr>
          <a:xfrm xmlns:a="http://schemas.openxmlformats.org/drawingml/2006/main">
            <a:off x="720000" y="18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01  Infrastructure Provisioning</a:t>
            </a:r>
          </a:p>
        </p:txBody>
      </p:sp>
      <p:sp>
        <p:nvSpPr>
          <p:cNvPr id="100010" name="A1d"/>
          <p:cNvSpPr txBox="1"/>
          <p:nvPr/>
        </p:nvSpPr>
        <p:spPr>
          <a:xfrm xmlns:a="http://schemas.openxmlformats.org/drawingml/2006/main">
            <a:off x="720000" y="2124000"/>
            <a:ext cx="50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Deploy Guardium Collector, Aggregator, and Central Manager VMs on KVM, VMware vSphere/vCenter, AWS, GCP, or Azure using Terraform/OpenTofu.</a:t>
            </a:r>
          </a:p>
        </p:txBody>
      </p:sp>
      <p:sp>
        <p:nvSpPr>
          <p:cNvPr id="100011" name="A2"/>
          <p:cNvSpPr txBox="1"/>
          <p:nvPr/>
        </p:nvSpPr>
        <p:spPr>
          <a:xfrm xmlns:a="http://schemas.openxmlformats.org/drawingml/2006/main">
            <a:off x="720000" y="27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02  Image / ISO Selection</a:t>
            </a:r>
          </a:p>
        </p:txBody>
      </p:sp>
      <p:sp>
        <p:nvSpPr>
          <p:cNvPr id="100012" name="A2d"/>
          <p:cNvSpPr txBox="1"/>
          <p:nvPr/>
        </p:nvSpPr>
        <p:spPr>
          <a:xfrm xmlns:a="http://schemas.openxmlformats.org/drawingml/2006/main">
            <a:off x="720000" y="3024000"/>
            <a:ext cx="50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Interactive image picker lists available AMIs (AWS), custom images (GCP/Azure), or ISO files on Datastore (vSphere). You select the version to deploy.</a:t>
            </a:r>
          </a:p>
        </p:txBody>
      </p:sp>
      <p:sp>
        <p:nvSpPr>
          <p:cNvPr id="100013" name="A3"/>
          <p:cNvSpPr txBox="1"/>
          <p:nvPr/>
        </p:nvSpPr>
        <p:spPr>
          <a:xfrm xmlns:a="http://schemas.openxmlformats.org/drawingml/2006/main">
            <a:off x="720000" y="36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03  First-Boot Network Configuration</a:t>
            </a:r>
          </a:p>
        </p:txBody>
      </p:sp>
      <p:sp>
        <p:nvSpPr>
          <p:cNvPr id="100014" name="A3d"/>
          <p:cNvSpPr txBox="1"/>
          <p:nvPr/>
        </p:nvSpPr>
        <p:spPr>
          <a:xfrm xmlns:a="http://schemas.openxmlformats.org/drawingml/2006/main">
            <a:off x="720000" y="3924000"/>
            <a:ext cx="50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Automated NM_setup console interaction sets static IP, gateway, DNS, and hostname on each Guardium appliance after first boot.</a:t>
            </a:r>
          </a:p>
        </p:txBody>
      </p:sp>
      <p:sp>
        <p:nvSpPr>
          <p:cNvPr id="100015" name="A4"/>
          <p:cNvSpPr txBox="1"/>
          <p:nvPr/>
        </p:nvSpPr>
        <p:spPr>
          <a:xfrm xmlns:a="http://schemas.openxmlformats.org/drawingml/2006/main">
            <a:off x="6120000" y="18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04  Collector → Aggregator Registration</a:t>
            </a:r>
          </a:p>
        </p:txBody>
      </p:sp>
      <p:sp>
        <p:nvSpPr>
          <p:cNvPr id="100016" name="A4d"/>
          <p:cNvSpPr txBox="1"/>
          <p:nvPr/>
        </p:nvSpPr>
        <p:spPr>
          <a:xfrm xmlns:a="http://schemas.openxmlformats.org/drawingml/2006/main">
            <a:off x="6120000" y="2124000"/>
            <a:ext cx="50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REST API call to POST /restAPI/register_aggregator on the Collector, with status polling and verification on the Aggregator managed-units list.</a:t>
            </a:r>
          </a:p>
        </p:txBody>
      </p:sp>
      <p:sp>
        <p:nvSpPr>
          <p:cNvPr id="100017" name="A5"/>
          <p:cNvSpPr txBox="1"/>
          <p:nvPr/>
        </p:nvSpPr>
        <p:spPr>
          <a:xfrm xmlns:a="http://schemas.openxmlformats.org/drawingml/2006/main">
            <a:off x="6120000" y="27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05  Security Policy Deployment</a:t>
            </a:r>
          </a:p>
        </p:txBody>
      </p:sp>
      <p:sp>
        <p:nvSpPr>
          <p:cNvPr id="100018" name="A5d"/>
          <p:cNvSpPr txBox="1"/>
          <p:nvPr/>
        </p:nvSpPr>
        <p:spPr>
          <a:xfrm xmlns:a="http://schemas.openxmlformats.org/drawingml/2006/main">
            <a:off x="6120000" y="3024000"/>
            <a:ext cx="50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Deploys four baseline policies: BASELINE_AUDIT, PCI_DSS_AUDIT, HIPAA_AUDIT, EXTRUSION_DETECT via Guardium REST API.</a:t>
            </a:r>
          </a:p>
        </p:txBody>
      </p:sp>
      <p:sp>
        <p:nvSpPr>
          <p:cNvPr id="100019" name="A6"/>
          <p:cNvSpPr txBox="1"/>
          <p:nvPr/>
        </p:nvSpPr>
        <p:spPr>
          <a:xfrm xmlns:a="http://schemas.openxmlformats.org/drawingml/2006/main">
            <a:off x="6120000" y="3600000"/>
            <a:ext cx="50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DB8F5"/>
                </a:solidFill>
              </a:rPr>
              <a:t>06  S-TAP / GIM Agent Deployment</a:t>
            </a:r>
          </a:p>
        </p:txBody>
      </p:sp>
      <p:sp>
        <p:nvSpPr>
          <p:cNvPr id="100020" name="A6d"/>
          <p:cNvSpPr txBox="1"/>
          <p:nvPr/>
        </p:nvSpPr>
        <p:spPr>
          <a:xfrm xmlns:a="http://schemas.openxmlformats.org/drawingml/2006/main">
            <a:off x="6120000" y="3924000"/>
            <a:ext cx="50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A8B8C8"/>
                </a:solidFill>
              </a:rPr>
              <a:t>Install S-TAP on Linux (SSH/Ansible), Windows (WinRM), or via GIM (IBM Installation Manager). Declines automation? Prints manual one-liner commands.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21" name="Sec"/>
          <p:cNvSpPr txBox="1"/>
          <p:nvPr/>
        </p:nvSpPr>
        <p:spPr>
          <a:xfrm xmlns:a="http://schemas.openxmlformats.org/drawingml/2006/main">
            <a:off x="720000" y="432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ARCHITECTURE</a:t>
            </a:r>
          </a:p>
        </p:txBody>
      </p:sp>
      <p:sp>
        <p:nvSpPr>
          <p:cNvPr id="100022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Deployment Architecture Overview</a:t>
            </a:r>
          </a:p>
        </p:txBody>
      </p:sp>
      <p:sp>
        <p:nvSpPr>
          <p:cNvPr id="100023" name="BoxInfra"/>
          <p:cNvSpPr txBox="1"/>
          <p:nvPr/>
        </p:nvSpPr>
        <p:spPr>
          <a:xfrm xmlns:a="http://schemas.openxmlformats.org/drawingml/2006/main">
            <a:off x="720000" y="1728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INFRASTRUCTURE LAYER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Terraform / OpenTofu modules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KVM / libvirt  (on-prem lab, ISO on local storage)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VMware vSphere / vCenter  (ISO boots from Datastore)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Amazon Web Services  (custom AMI via VM Import)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Google Cloud Platform  (custom image from ISO)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Microsoft Azure  (managed image from VHD)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cloud_provider = kvm | vsphere | aws | gcp | azure</a:t>
            </a:r>
          </a:p>
        </p:txBody>
      </p:sp>
      <p:sp>
        <p:nvSpPr>
          <p:cNvPr id="100024" name="BoxApp"/>
          <p:cNvSpPr txBox="1"/>
          <p:nvPr/>
        </p:nvSpPr>
        <p:spPr>
          <a:xfrm xmlns:a="http://schemas.openxmlformats.org/drawingml/2006/main">
            <a:off x="6300000" y="1728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APPLICATION LAYER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Ansible + Python (guardapi library)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Collector → Aggregator registration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REST: POST /restAPI/register_aggregator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Security policy deployment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4 baseline policies via REST API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• S-TAP agent installation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SSH (Linux) · WinRM (Windows) · GIM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Manual one-liner fallback on user decline</a:t>
            </a:r>
          </a:p>
        </p:txBody>
      </p:sp>
      <p:sp>
        <p:nvSpPr>
          <p:cNvPr id="100025" name="ArrowLbl"/>
          <p:cNvSpPr txBox="1"/>
          <p:nvPr/>
        </p:nvSpPr>
        <p:spPr>
          <a:xfrm xmlns:a="http://schemas.openxmlformats.org/drawingml/2006/main">
            <a:off x="720000" y="4608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DB8F5"/>
                </a:solidFill>
              </a:rPr>
              <a:t>▶  Interactive image picker lists available images at deploy time  ▶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26" name="Sec"/>
          <p:cNvSpPr txBox="1"/>
          <p:nvPr/>
        </p:nvSpPr>
        <p:spPr>
          <a:xfrm xmlns:a="http://schemas.openxmlformats.org/drawingml/2006/main">
            <a:off x="720000" y="432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MULTI-CLOUD</a:t>
            </a:r>
          </a:p>
        </p:txBody>
      </p:sp>
      <p:sp>
        <p:nvSpPr>
          <p:cNvPr id="100027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Supported Platforms &amp; Authentication</a:t>
            </a:r>
          </a:p>
        </p:txBody>
      </p:sp>
      <p:sp>
        <p:nvSpPr>
          <p:cNvPr id="100028" name="VS"/>
          <p:cNvSpPr txBox="1"/>
          <p:nvPr/>
        </p:nvSpPr>
        <p:spPr>
          <a:xfrm xmlns:a="http://schemas.openxmlformats.org/drawingml/2006/main">
            <a:off x="720000" y="1620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VMware vSphere / vCenter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Boots VM from ISO stored on Datastore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Upload via vSphere Client or govc CLI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No OVA template or Content Library needed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Authentication: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VSPHERE_SERVER=vcenter.example.com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VSPHERE_USER=administrator@vsphere.local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VSPHERE_PASSWORD=secret</a:t>
            </a:r>
          </a:p>
        </p:txBody>
      </p:sp>
      <p:sp>
        <p:nvSpPr>
          <p:cNvPr id="100029" name="AW"/>
          <p:cNvSpPr txBox="1"/>
          <p:nvPr/>
        </p:nvSpPr>
        <p:spPr>
          <a:xfrm xmlns:a="http://schemas.openxmlformats.org/drawingml/2006/main">
            <a:off x="6300000" y="1620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Amazon Web Services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Import Guardium VMDK as custom AMI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aws ec2 import-image 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Interactive AMI picker at deploy time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Static ENI, encrypted gp3 root disk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Authentication: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AWS_ACCESS_KEY_ID=AKIA...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AWS_SECRET_ACCESS_KEY=...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AWS_DEFAULT_REGION=us-east-1</a:t>
            </a:r>
          </a:p>
        </p:txBody>
      </p:sp>
      <p:sp>
        <p:nvSpPr>
          <p:cNvPr id="100030" name="GC"/>
          <p:cNvSpPr txBox="1"/>
          <p:nvPr/>
        </p:nvSpPr>
        <p:spPr>
          <a:xfrm xmlns:a="http://schemas.openxmlformats.org/drawingml/2006/main">
            <a:off x="720000" y="3780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Google Cloud Platform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Convert ISO → raw image → import via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gcloud compute images import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Interactive image picker at deploy time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Static internal IP, no external IP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Authentication: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GOOGLE_APPLICATION_CREDENTIALS=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/path/to/service-account-key.json</a:t>
            </a:r>
          </a:p>
        </p:txBody>
      </p:sp>
      <p:sp>
        <p:nvSpPr>
          <p:cNvPr id="100031" name="AZ"/>
          <p:cNvSpPr txBox="1"/>
          <p:nvPr/>
        </p:nvSpPr>
        <p:spPr>
          <a:xfrm xmlns:a="http://schemas.openxmlformats.org/drawingml/2006/main">
            <a:off x="6300000" y="3780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3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Microsoft Azure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Upload VHD → managed disk → managed image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az image create 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Interactive image + SIG version picker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Static private IP, no cloud-init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Authentication: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ARM_SUBSCRIPTION_ID=...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ARM_TENANT_ID=...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ARM_CLIENT_ID=...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export ARM_CLIENT_SECRET=...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32" name="Sec"/>
          <p:cNvSpPr txBox="1"/>
          <p:nvPr/>
        </p:nvSpPr>
        <p:spPr>
          <a:xfrm xmlns:a="http://schemas.openxmlformats.org/drawingml/2006/main">
            <a:off x="720000" y="432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IMAGE SELECTION</a:t>
            </a:r>
          </a:p>
        </p:txBody>
      </p:sp>
      <p:sp>
        <p:nvSpPr>
          <p:cNvPr id="100033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Interactive Image Picker — scripts/list-images.py</a:t>
            </a:r>
          </a:p>
        </p:txBody>
      </p:sp>
      <p:sp>
        <p:nvSpPr>
          <p:cNvPr id="100034" name="Desc"/>
          <p:cNvSpPr txBox="1"/>
          <p:nvPr/>
        </p:nvSpPr>
        <p:spPr>
          <a:xfrm xmlns:a="http://schemas.openxmlformats.org/drawingml/2006/main">
            <a:off x="720000" y="162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A8B8C8"/>
                </a:solidFill>
              </a:rPr>
              <a:t>At deploy time the script queries the target platform, prints a numbered table of available Guardium images/ISOs, and prompts you to select one. The chosen ID is passed automatically to Terraform.</a:t>
            </a:r>
          </a:p>
        </p:txBody>
      </p:sp>
      <p:sp>
        <p:nvSpPr>
          <p:cNvPr id="100035" name="Cmd"/>
          <p:cNvSpPr txBox="1"/>
          <p:nvPr/>
        </p:nvSpPr>
        <p:spPr>
          <a:xfrm xmlns:a="http://schemas.openxmlformats.org/drawingml/2006/main">
            <a:off x="720000" y="2268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3DB8F5"/>
                </a:solidFill>
              </a:rPr>
              <a:t>python3 scripts/list-images.py  vsphere  --server vcenter.example.com  --datastore datastore1</a:t>
            </a:r>
          </a:p>
          <a:p xmlns:a="http://schemas.openxmlformats.org/drawingml/2006/main">
            <a:r>
              <a:rPr lang="en-US" sz="1200">
                <a:solidFill>
                  <a:srgbClr val="3DB8F5"/>
                </a:solidFill>
              </a:rPr>
              <a:t>python3 scripts/list-images.py  aws      --region us-east-1</a:t>
            </a:r>
          </a:p>
          <a:p xmlns:a="http://schemas.openxmlformats.org/drawingml/2006/main">
            <a:r>
              <a:rPr lang="en-US" sz="1200">
                <a:solidFill>
                  <a:srgbClr val="3DB8F5"/>
                </a:solidFill>
              </a:rPr>
              <a:t>python3 scripts/list-images.py  gcp      --project my-gcp-project</a:t>
            </a:r>
          </a:p>
          <a:p xmlns:a="http://schemas.openxmlformats.org/drawingml/2006/main">
            <a:r>
              <a:rPr lang="en-US" sz="1200">
                <a:solidFill>
                  <a:srgbClr val="3DB8F5"/>
                </a:solidFill>
              </a:rPr>
              <a:t>python3 scripts/list-images.py  azure    --subscription &lt;id&gt;  --resource-group rg-guardium</a:t>
            </a:r>
          </a:p>
        </p:txBody>
      </p:sp>
      <p:sp>
        <p:nvSpPr>
          <p:cNvPr id="100036" name="SampleHdr"/>
          <p:cNvSpPr txBox="1"/>
          <p:nvPr/>
        </p:nvSpPr>
        <p:spPr>
          <a:xfrm xmlns:a="http://schemas.openxmlformats.org/drawingml/2006/main">
            <a:off x="720000" y="3312000"/>
            <a:ext cx="36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Sample output (AWS):</a:t>
            </a:r>
          </a:p>
        </p:txBody>
      </p:sp>
      <p:sp>
        <p:nvSpPr>
          <p:cNvPr id="100037" name="Sample"/>
          <p:cNvSpPr txBox="1"/>
          <p:nvPr/>
        </p:nvSpPr>
        <p:spPr>
          <a:xfrm xmlns:a="http://schemas.openxmlformats.org/drawingml/2006/main">
            <a:off x="720000" y="3600000"/>
            <a:ext cx="108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Available Guardium images on AWS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─────────────────────────────────────────────────────────────────────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#    AMI ID                  Name                            Created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1    ami-0a1b2c3d4e5f6789    Guardium-12.2.2-2024-10-01      2024-10-01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2    ami-0987654321fedcba    Guardium-12.2.0-2024-08-15      2024-08-15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─────────────────────────────────────────────────────────────────────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Select image number [1-2]:  1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  ✓ Selected: ami-0a1b2c3d4e5f6789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38" name="Sec"/>
          <p:cNvSpPr txBox="1"/>
          <p:nvPr/>
        </p:nvSpPr>
        <p:spPr>
          <a:xfrm xmlns:a="http://schemas.openxmlformats.org/drawingml/2006/main">
            <a:off x="720000" y="432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DEPLOYMENT FLOW</a:t>
            </a:r>
          </a:p>
        </p:txBody>
      </p:sp>
      <p:sp>
        <p:nvSpPr>
          <p:cNvPr id="100039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Full Lifecycle — Step-by-Step</a:t>
            </a:r>
          </a:p>
        </p:txBody>
      </p:sp>
      <p:sp>
        <p:nvSpPr>
          <p:cNvPr id="100040" name="S1"/>
          <p:cNvSpPr txBox="1"/>
          <p:nvPr/>
        </p:nvSpPr>
        <p:spPr>
          <a:xfrm xmlns:a="http://schemas.openxmlformats.org/drawingml/2006/main">
            <a:off x="720000" y="1728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1  Set Credentials</a:t>
            </a:r>
          </a:p>
        </p:txBody>
      </p:sp>
      <p:sp>
        <p:nvSpPr>
          <p:cNvPr id="100041" name="S1d"/>
          <p:cNvSpPr txBox="1"/>
          <p:nvPr/>
        </p:nvSpPr>
        <p:spPr>
          <a:xfrm xmlns:a="http://schemas.openxmlformats.org/drawingml/2006/main">
            <a:off x="720000" y="2268000"/>
            <a:ext cx="16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Export VSPHERE / AWS / GCP / Azure + Guardium admin env vars</a:t>
            </a:r>
          </a:p>
        </p:txBody>
      </p:sp>
      <p:sp>
        <p:nvSpPr>
          <p:cNvPr id="100042" name="S2"/>
          <p:cNvSpPr txBox="1"/>
          <p:nvPr/>
        </p:nvSpPr>
        <p:spPr>
          <a:xfrm xmlns:a="http://schemas.openxmlformats.org/drawingml/2006/main">
            <a:off x="2700000" y="1728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2  Edit Config</a:t>
            </a:r>
          </a:p>
        </p:txBody>
      </p:sp>
      <p:sp>
        <p:nvSpPr>
          <p:cNvPr id="100043" name="S2d"/>
          <p:cNvSpPr txBox="1"/>
          <p:nvPr/>
        </p:nvSpPr>
        <p:spPr>
          <a:xfrm xmlns:a="http://schemas.openxmlformats.org/drawingml/2006/main">
            <a:off x="2700000" y="2268000"/>
            <a:ext cx="16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Set cloud.provider, IPs, hostnames in config/lab.yml</a:t>
            </a:r>
          </a:p>
        </p:txBody>
      </p:sp>
      <p:sp>
        <p:nvSpPr>
          <p:cNvPr id="100044" name="S3"/>
          <p:cNvSpPr txBox="1"/>
          <p:nvPr/>
        </p:nvSpPr>
        <p:spPr>
          <a:xfrm xmlns:a="http://schemas.openxmlformats.org/drawingml/2006/main">
            <a:off x="4680000" y="1728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3  Deploy VMs</a:t>
            </a:r>
          </a:p>
        </p:txBody>
      </p:sp>
      <p:sp>
        <p:nvSpPr>
          <p:cNvPr id="100045" name="S3d"/>
          <p:cNvSpPr txBox="1"/>
          <p:nvPr/>
        </p:nvSpPr>
        <p:spPr>
          <a:xfrm xmlns:a="http://schemas.openxmlformats.org/drawingml/2006/main">
            <a:off x="4680000" y="2268000"/>
            <a:ext cx="16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./scripts/guardium-deploy full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Image picker shown automatically</a:t>
            </a:r>
          </a:p>
        </p:txBody>
      </p:sp>
      <p:sp>
        <p:nvSpPr>
          <p:cNvPr id="100046" name="S4"/>
          <p:cNvSpPr txBox="1"/>
          <p:nvPr/>
        </p:nvSpPr>
        <p:spPr>
          <a:xfrm xmlns:a="http://schemas.openxmlformats.org/drawingml/2006/main">
            <a:off x="6660000" y="1728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4  First-Boot Setup</a:t>
            </a:r>
          </a:p>
        </p:txBody>
      </p:sp>
      <p:sp>
        <p:nvSpPr>
          <p:cNvPr id="100047" name="S4d"/>
          <p:cNvSpPr txBox="1"/>
          <p:nvPr/>
        </p:nvSpPr>
        <p:spPr>
          <a:xfrm xmlns:a="http://schemas.openxmlformats.org/drawingml/2006/main">
            <a:off x="6660000" y="2268000"/>
            <a:ext cx="16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NM_setup wizard via console automation or manual</a:t>
            </a:r>
          </a:p>
        </p:txBody>
      </p:sp>
      <p:sp>
        <p:nvSpPr>
          <p:cNvPr id="100048" name="S5"/>
          <p:cNvSpPr txBox="1"/>
          <p:nvPr/>
        </p:nvSpPr>
        <p:spPr>
          <a:xfrm xmlns:a="http://schemas.openxmlformats.org/drawingml/2006/main">
            <a:off x="8640000" y="1728000"/>
            <a:ext cx="16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5  Converge</a:t>
            </a:r>
          </a:p>
        </p:txBody>
      </p:sp>
      <p:sp>
        <p:nvSpPr>
          <p:cNvPr id="100049" name="S5d"/>
          <p:cNvSpPr txBox="1"/>
          <p:nvPr/>
        </p:nvSpPr>
        <p:spPr>
          <a:xfrm xmlns:a="http://schemas.openxmlformats.org/drawingml/2006/main">
            <a:off x="8640000" y="2268000"/>
            <a:ext cx="16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Wait for SSH, configure &amp; validate each appliance</a:t>
            </a:r>
          </a:p>
        </p:txBody>
      </p:sp>
      <p:sp>
        <p:nvSpPr>
          <p:cNvPr id="100050" name="S6"/>
          <p:cNvSpPr txBox="1"/>
          <p:nvPr/>
        </p:nvSpPr>
        <p:spPr>
          <a:xfrm xmlns:a="http://schemas.openxmlformats.org/drawingml/2006/main">
            <a:off x="720000" y="3060000"/>
            <a:ext cx="198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6  Register</a:t>
            </a:r>
          </a:p>
        </p:txBody>
      </p:sp>
      <p:sp>
        <p:nvSpPr>
          <p:cNvPr id="100051" name="S6d"/>
          <p:cNvSpPr txBox="1"/>
          <p:nvPr/>
        </p:nvSpPr>
        <p:spPr>
          <a:xfrm xmlns:a="http://schemas.openxmlformats.org/drawingml/2006/main">
            <a:off x="720000" y="3600000"/>
            <a:ext cx="198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./scripts/guardium-deploy register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Collector → Aggregator via REST API</a:t>
            </a:r>
          </a:p>
        </p:txBody>
      </p:sp>
      <p:sp>
        <p:nvSpPr>
          <p:cNvPr id="100052" name="S7"/>
          <p:cNvSpPr txBox="1"/>
          <p:nvPr/>
        </p:nvSpPr>
        <p:spPr>
          <a:xfrm xmlns:a="http://schemas.openxmlformats.org/drawingml/2006/main">
            <a:off x="3060000" y="3060000"/>
            <a:ext cx="198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7  Deploy Policies</a:t>
            </a:r>
          </a:p>
        </p:txBody>
      </p:sp>
      <p:sp>
        <p:nvSpPr>
          <p:cNvPr id="100053" name="S7d"/>
          <p:cNvSpPr txBox="1"/>
          <p:nvPr/>
        </p:nvSpPr>
        <p:spPr>
          <a:xfrm xmlns:a="http://schemas.openxmlformats.org/drawingml/2006/main">
            <a:off x="3060000" y="3600000"/>
            <a:ext cx="198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./scripts/guardium-deploy policies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4 baseline policies activated</a:t>
            </a:r>
          </a:p>
        </p:txBody>
      </p:sp>
      <p:sp>
        <p:nvSpPr>
          <p:cNvPr id="100054" name="S8"/>
          <p:cNvSpPr txBox="1"/>
          <p:nvPr/>
        </p:nvSpPr>
        <p:spPr>
          <a:xfrm xmlns:a="http://schemas.openxmlformats.org/drawingml/2006/main">
            <a:off x="5400000" y="3060000"/>
            <a:ext cx="198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8  Install S-TAP / GIM</a:t>
            </a:r>
          </a:p>
        </p:txBody>
      </p:sp>
      <p:sp>
        <p:nvSpPr>
          <p:cNvPr id="100055" name="S8d"/>
          <p:cNvSpPr txBox="1"/>
          <p:nvPr/>
        </p:nvSpPr>
        <p:spPr>
          <a:xfrm xmlns:a="http://schemas.openxmlformats.org/drawingml/2006/main">
            <a:off x="5400000" y="3600000"/>
            <a:ext cx="198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./scripts/guardium-deploy stap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SSH / WinRM / GIM — decline = manual one-liner</a:t>
            </a:r>
          </a:p>
        </p:txBody>
      </p:sp>
      <p:sp>
        <p:nvSpPr>
          <p:cNvPr id="100056" name="S9"/>
          <p:cNvSpPr txBox="1"/>
          <p:nvPr/>
        </p:nvSpPr>
        <p:spPr>
          <a:xfrm xmlns:a="http://schemas.openxmlformats.org/drawingml/2006/main">
            <a:off x="7740000" y="3060000"/>
            <a:ext cx="252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B8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0D1B2A"/>
                </a:solidFill>
              </a:rPr>
              <a:t>✓  Guardium Live</a:t>
            </a:r>
          </a:p>
        </p:txBody>
      </p:sp>
      <p:sp>
        <p:nvSpPr>
          <p:cNvPr id="100057" name="S9d"/>
          <p:cNvSpPr txBox="1"/>
          <p:nvPr/>
        </p:nvSpPr>
        <p:spPr>
          <a:xfrm xmlns:a="http://schemas.openxmlformats.org/drawingml/2006/main">
            <a:off x="7740000" y="3600000"/>
            <a:ext cx="252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Collector auditing DB traffic, policies active, agents reporting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58" name="Sec"/>
          <p:cNvSpPr txBox="1"/>
          <p:nvPr/>
        </p:nvSpPr>
        <p:spPr>
          <a:xfrm xmlns:a="http://schemas.openxmlformats.org/drawingml/2006/main">
            <a:off x="720000" y="43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REGISTRATION &amp; POLICIES</a:t>
            </a:r>
          </a:p>
        </p:txBody>
      </p:sp>
      <p:sp>
        <p:nvSpPr>
          <p:cNvPr id="100059" name="Title"/>
          <p:cNvSpPr txBox="1"/>
          <p:nvPr/>
        </p:nvSpPr>
        <p:spPr>
          <a:xfrm xmlns:a="http://schemas.openxmlformats.org/drawingml/2006/main">
            <a:off x="720000" y="792000"/>
            <a:ext cx="10080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Collector → Aggregator Registration</a:t>
            </a:r>
          </a:p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&amp; Sample Security Policies</a:t>
            </a:r>
          </a:p>
        </p:txBody>
      </p:sp>
      <p:sp>
        <p:nvSpPr>
          <p:cNvPr id="100060" name="RegBox"/>
          <p:cNvSpPr txBox="1"/>
          <p:nvPr/>
        </p:nvSpPr>
        <p:spPr>
          <a:xfrm xmlns:a="http://schemas.openxmlformats.org/drawingml/2006/main">
            <a:off x="720000" y="198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REGISTRATION  (guardapi/registration.py)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Step 1  →  POST /restAPI/register_aggregator  on the Collector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         Payload: aggregatorIP, aggregatorUsername, aggregatorPassword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Step 2  →  Poll  GET /restAPI/aggregator_registration_status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         Waits up to 5 minutes for status = 'registered'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Step 3  →  Verify  GET /restAPI/managed_units  on the Aggregator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         Confirms Collector appears in managed-units list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Command:  ./scripts/guardium-deploy register</a:t>
            </a:r>
          </a:p>
        </p:txBody>
      </p:sp>
      <p:sp>
        <p:nvSpPr>
          <p:cNvPr id="100061" name="PolBox"/>
          <p:cNvSpPr txBox="1"/>
          <p:nvPr/>
        </p:nvSpPr>
        <p:spPr>
          <a:xfrm xmlns:a="http://schemas.openxmlformats.org/drawingml/2006/main">
            <a:off x="6300000" y="1980000"/>
            <a:ext cx="52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SAMPLE POLICIES  (guardapi/policies.py)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BASELINE_AUDIT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Audits all DBA, sys, sa, root, postgres activity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Actions: SELECT, INSERT, UPDATE, DELETE, DDL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PCI_DSS_AUDIT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Audits card%, payment%, credit% tables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Alerts on all failed login attempts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HIPAA_AUDIT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Audits patient%, phi%, medical%, health% tables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EXTRUSION_DETECT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  Alerts on SELECT returning more than 1,000 rows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Command:  ./scripts/guardium-deploy policies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62" name="Sec"/>
          <p:cNvSpPr txBox="1"/>
          <p:nvPr/>
        </p:nvSpPr>
        <p:spPr>
          <a:xfrm xmlns:a="http://schemas.openxmlformats.org/drawingml/2006/main">
            <a:off x="720000" y="432000"/>
            <a:ext cx="57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S-TAP / GIM AGENT DEPLOYMENT</a:t>
            </a:r>
          </a:p>
        </p:txBody>
      </p:sp>
      <p:sp>
        <p:nvSpPr>
          <p:cNvPr id="100063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S-TAP Installation — Three Methods</a:t>
            </a:r>
          </a:p>
        </p:txBody>
      </p:sp>
      <p:sp>
        <p:nvSpPr>
          <p:cNvPr id="100064" name="SSH"/>
          <p:cNvSpPr txBox="1"/>
          <p:nvPr/>
        </p:nvSpPr>
        <p:spPr>
          <a:xfrm xmlns:a="http://schemas.openxmlformats.org/drawingml/2006/main">
            <a:off x="720000" y="1728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METHOD 1  —  SSH (Linux / Unix)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Target:  Linux/Unix database servers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Tool:    Ansible + paramiko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What it does: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Fetches S-TAP RPM from Collector appliance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via SCP on port 16022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Installs RPM, writes /etc/sysconfig/guard.conf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TAP_IP, GUARD_PORT=8075, DB_TYPE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Enables and starts guard-stap service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Playbook:  install-stap-ssh.yml  (serial: 5)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Manual:    scp + ssh one-liner printed on decline</a:t>
            </a:r>
          </a:p>
        </p:txBody>
      </p:sp>
      <p:sp>
        <p:nvSpPr>
          <p:cNvPr id="100065" name="WINRM"/>
          <p:cNvSpPr txBox="1"/>
          <p:nvPr/>
        </p:nvSpPr>
        <p:spPr>
          <a:xfrm xmlns:a="http://schemas.openxmlformats.org/drawingml/2006/main">
            <a:off x="4500000" y="1728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METHOD 2  —  WinRM (Windows)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Target:  Windows database servers (SQL Server)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Tool:    Ansible + pywinrm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What it does: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Copies S-TAP MSI to target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C:\Windows\Temp\guard-stap.msi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Runs msiexec /quiet /norestart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GUARD_IP, GUARD_PORT, DB_TYPE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• Starts IBM Guardium S-TAP service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auto-start on reboot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Playbook:  install-stap-winrm.yml  (serial: 5)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Manual:    msiexec one-liner printed on decline</a:t>
            </a:r>
          </a:p>
        </p:txBody>
      </p:sp>
      <p:sp>
        <p:nvSpPr>
          <p:cNvPr id="100066" name="GIM"/>
          <p:cNvSpPr txBox="1"/>
          <p:nvPr/>
        </p:nvSpPr>
        <p:spPr>
          <a:xfrm xmlns:a="http://schemas.openxmlformats.org/drawingml/2006/main">
            <a:off x="8280000" y="1728000"/>
            <a:ext cx="3420000" cy="30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A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METHOD 3  —  GIM  (IBM Enterprise)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Target:  Any OS — IBM recommended at scale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Tool:    GIM REST API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GIM manages: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Install · Upgrade · Removal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Config push · Health monitoring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On decline, 3 manual options printed: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A) curl REST API call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B) gim_cli command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  C) Self-registration pull RPM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Playbook:  install-stap-gim.yml</a:t>
            </a:r>
          </a:p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Port:      GIM server  tcp/8082</a:t>
            </a:r>
          </a:p>
        </p:txBody>
      </p:sp>
      <p:sp>
        <p:nvSpPr>
          <p:cNvPr id="100067" name="Note"/>
          <p:cNvSpPr txBox="1"/>
          <p:nvPr/>
        </p:nvSpPr>
        <p:spPr>
          <a:xfrm xmlns:a="http://schemas.openxmlformats.org/drawingml/2006/main">
            <a:off x="720000" y="493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DB8F5"/>
                </a:solidFill>
              </a:rPr>
              <a:t>⚑  If you answer 'n' at the automation prompt, the exact manual one-liner command for your chosen method is printed — nothing is installed automatically.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68" name="Sec"/>
          <p:cNvSpPr txBox="1"/>
          <p:nvPr/>
        </p:nvSpPr>
        <p:spPr>
          <a:xfrm xmlns:a="http://schemas.openxmlformats.org/drawingml/2006/main">
            <a:off x="720000" y="43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REPOSITORY STRUCTURE</a:t>
            </a:r>
          </a:p>
        </p:txBody>
      </p:sp>
      <p:sp>
        <p:nvSpPr>
          <p:cNvPr id="100069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Project File Layout</a:t>
            </a:r>
          </a:p>
        </p:txBody>
      </p:sp>
      <p:sp>
        <p:nvSpPr>
          <p:cNvPr id="100070" name="Tree"/>
          <p:cNvSpPr txBox="1"/>
          <p:nvPr/>
        </p:nvSpPr>
        <p:spPr>
          <a:xfrm xmlns:a="http://schemas.openxmlformats.org/drawingml/2006/main">
            <a:off x="720000" y="1620000"/>
            <a:ext cx="1080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guardium-deployment/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├── scripts/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guardium-deploy          ← main CLI  (all commands)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guardium-everything.sh   ← one-shot full automation helper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└── list-images.py           ← interactive image picker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├── terraform/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cloud.tf                 ← multi-cloud dispatch (vsphere/gcp/aws/azure)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providers.tf             ← all provider declarations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cloud_variables.tf       ← cloud-provider variables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└── modules/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guardium-vm/         ← KVM / libvirt (lab)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guardium-vsphere/    ← VMware vSphere (ISO from Datastore)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guardium-aws/        ← Amazon Web Services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guardium-gcp/        ← Google Cloud Platform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└── guardium-azure/      ← Microsoft Azure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├── ansible/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inventory/hosts.yml      ← appliances + stap_linux + stap_windows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└── playbooks/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register-collector.yml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deploy-policies.yml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install-stap-ssh.yml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├── install-stap-winrm.yml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    └── install-stap-gim.yml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├── guardapi/                    ← Python REST API library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client.py  registration.py  policies.py  stap.py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├── config/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├── lab.yml                  ← active configuration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│   └── customer-template.yml   ← customer deployment template</a:t>
            </a:r>
          </a:p>
          <a:p xmlns:a="http://schemas.openxmlformats.org/drawingml/2006/main">
            <a:r>
              <a:rPr lang="en-US" sz="1000">
                <a:solidFill>
                  <a:srgbClr val="A8B8C8"/>
                </a:solidFill>
              </a:rPr>
              <a:t>└── state/deployment.yml         ← deployment state  (no secrets)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71" name="Sec"/>
          <p:cNvSpPr txBox="1"/>
          <p:nvPr/>
        </p:nvSpPr>
        <p:spPr>
          <a:xfrm xmlns:a="http://schemas.openxmlformats.org/drawingml/2006/main">
            <a:off x="720000" y="432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KEY COMMANDS</a:t>
            </a:r>
          </a:p>
        </p:txBody>
      </p:sp>
      <p:sp>
        <p:nvSpPr>
          <p:cNvPr id="100072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CLI Reference — guardium-deploy</a:t>
            </a:r>
          </a:p>
        </p:txBody>
      </p:sp>
      <p:sp>
        <p:nvSpPr>
          <p:cNvPr id="100073" name="Cmds"/>
          <p:cNvSpPr txBox="1"/>
          <p:nvPr/>
        </p:nvSpPr>
        <p:spPr>
          <a:xfrm xmlns:a="http://schemas.openxmlformats.org/drawingml/2006/main">
            <a:off x="720000" y="1620000"/>
            <a:ext cx="1080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A2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# Infrastructure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collector          Deploy Collector VM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aggregator         Deploy Aggregator VM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full               Deploy both (image picker auto-runs)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converge collector  Wait for SSH, configure &amp; validate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# Integration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register           Collector → Aggregator registration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policies           Deploy 4 sample security policies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# S-TAP / GIM agents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stap               Method picker (SSH / WinRM / GIM)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# Image picker (standalone, before deploy)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python3 scripts/list-images.py  aws     --region us-east-1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python3 scripts/list-images.py  gcp     --project my-gcp-project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python3 scripts/list-images.py  azure   --subscription &lt;id&gt;  --resource-group rg-guardium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python3 scripts/list-images.py  vsphere --server vcenter.example.com --datastore ds1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# Operations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status             Show deployment state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./scripts/guardium-deploy  menu               Interactive full menu</a:t>
            </a:r>
          </a:p>
          <a:p xmlns:a="http://schemas.openxmlformats.org/drawingml/2006/main">
            <a:r>
              <a:rPr lang="en-US" sz="1100">
                <a:solidFill>
                  <a:srgbClr val="3DB8F5"/>
                </a:solidFill>
              </a:rPr>
              <a:t>GUARDIUM_ALLOW_DESTROY=yes  ./scripts/guardium-deploy  destroy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74" name="Sec"/>
          <p:cNvSpPr txBox="1"/>
          <p:nvPr/>
        </p:nvSpPr>
        <p:spPr>
          <a:xfrm xmlns:a="http://schemas.openxmlformats.org/drawingml/2006/main">
            <a:off x="720000" y="432000"/>
            <a:ext cx="43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DB8F5"/>
                </a:solidFill>
              </a:rPr>
              <a:t>SECURITY &amp; SAFETY</a:t>
            </a:r>
          </a:p>
        </p:txBody>
      </p:sp>
      <p:sp>
        <p:nvSpPr>
          <p:cNvPr id="100075" name="Title"/>
          <p:cNvSpPr txBox="1"/>
          <p:nvPr/>
        </p:nvSpPr>
        <p:spPr>
          <a:xfrm xmlns:a="http://schemas.openxmlformats.org/drawingml/2006/main">
            <a:off x="720000" y="792000"/>
            <a:ext cx="1008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Security Controls &amp; Safety Guards</a:t>
            </a:r>
          </a:p>
        </p:txBody>
      </p:sp>
      <p:sp>
        <p:nvSpPr>
          <p:cNvPr id="100076" name="S1"/>
          <p:cNvSpPr txBox="1"/>
          <p:nvPr/>
        </p:nvSpPr>
        <p:spPr>
          <a:xfrm xmlns:a="http://schemas.openxmlformats.org/drawingml/2006/main">
            <a:off x="720000" y="1728000"/>
            <a:ext cx="32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No Credentials in Files</a:t>
            </a:r>
          </a:p>
        </p:txBody>
      </p:sp>
      <p:sp>
        <p:nvSpPr>
          <p:cNvPr id="100077" name="S1d"/>
          <p:cNvSpPr txBox="1"/>
          <p:nvPr/>
        </p:nvSpPr>
        <p:spPr>
          <a:xfrm xmlns:a="http://schemas.openxmlformats.org/drawingml/2006/main">
            <a:off x="720000" y="2088000"/>
            <a:ext cx="32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All passwords and API keys are passed exclusively as environment variables. Config files and state files contain zero secrets.</a:t>
            </a:r>
          </a:p>
        </p:txBody>
      </p:sp>
      <p:sp>
        <p:nvSpPr>
          <p:cNvPr id="100078" name="S2"/>
          <p:cNvSpPr txBox="1"/>
          <p:nvPr/>
        </p:nvSpPr>
        <p:spPr>
          <a:xfrm xmlns:a="http://schemas.openxmlformats.org/drawingml/2006/main">
            <a:off x="4320000" y="1728000"/>
            <a:ext cx="32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Destroy Is Safety-Guarded</a:t>
            </a:r>
          </a:p>
        </p:txBody>
      </p:sp>
      <p:sp>
        <p:nvSpPr>
          <p:cNvPr id="100079" name="S2d"/>
          <p:cNvSpPr txBox="1"/>
          <p:nvPr/>
        </p:nvSpPr>
        <p:spPr>
          <a:xfrm xmlns:a="http://schemas.openxmlformats.org/drawingml/2006/main">
            <a:off x="4320000" y="2088000"/>
            <a:ext cx="32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Destruction requires both GUARDIUM_ALLOW_DESTROY=yes and manually typing DESTROY at an interactive prompt. Cannot be triggered accidentally.</a:t>
            </a:r>
          </a:p>
        </p:txBody>
      </p:sp>
      <p:sp>
        <p:nvSpPr>
          <p:cNvPr id="100080" name="S3"/>
          <p:cNvSpPr txBox="1"/>
          <p:nvPr/>
        </p:nvSpPr>
        <p:spPr>
          <a:xfrm xmlns:a="http://schemas.openxmlformats.org/drawingml/2006/main">
            <a:off x="7920000" y="1728000"/>
            <a:ext cx="34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S-TAP Always Prompts</a:t>
            </a:r>
          </a:p>
        </p:txBody>
      </p:sp>
      <p:sp>
        <p:nvSpPr>
          <p:cNvPr id="100081" name="S3d"/>
          <p:cNvSpPr txBox="1"/>
          <p:nvPr/>
        </p:nvSpPr>
        <p:spPr>
          <a:xfrm xmlns:a="http://schemas.openxmlformats.org/drawingml/2006/main">
            <a:off x="7920000" y="2088000"/>
            <a:ext cx="34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The automation always asks before touching any database server. Answering 'n' prints the manual one-liner — nothing is installed without consent.</a:t>
            </a:r>
          </a:p>
        </p:txBody>
      </p:sp>
      <p:sp>
        <p:nvSpPr>
          <p:cNvPr id="100082" name="S4"/>
          <p:cNvSpPr txBox="1"/>
          <p:nvPr/>
        </p:nvSpPr>
        <p:spPr>
          <a:xfrm xmlns:a="http://schemas.openxmlformats.org/drawingml/2006/main">
            <a:off x="720000" y="3060000"/>
            <a:ext cx="32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State Tracking</a:t>
            </a:r>
          </a:p>
        </p:txBody>
      </p:sp>
      <p:sp>
        <p:nvSpPr>
          <p:cNvPr id="100083" name="S4d"/>
          <p:cNvSpPr txBox="1"/>
          <p:nvPr/>
        </p:nvSpPr>
        <p:spPr>
          <a:xfrm xmlns:a="http://schemas.openxmlformats.org/drawingml/2006/main">
            <a:off x="720000" y="3420000"/>
            <a:ext cx="32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state/deployment.yml records each phase (vm_created, install_complete, registered, policies deployed, agents installed). Re-runs are safe and idempotent.</a:t>
            </a:r>
          </a:p>
        </p:txBody>
      </p:sp>
      <p:sp>
        <p:nvSpPr>
          <p:cNvPr id="100084" name="S5"/>
          <p:cNvSpPr txBox="1"/>
          <p:nvPr/>
        </p:nvSpPr>
        <p:spPr>
          <a:xfrm xmlns:a="http://schemas.openxmlformats.org/drawingml/2006/main">
            <a:off x="4320000" y="3060000"/>
            <a:ext cx="32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TLS Verification</a:t>
            </a:r>
          </a:p>
        </p:txBody>
      </p:sp>
      <p:sp>
        <p:nvSpPr>
          <p:cNvPr id="100085" name="S5d"/>
          <p:cNvSpPr txBox="1"/>
          <p:nvPr/>
        </p:nvSpPr>
        <p:spPr>
          <a:xfrm xmlns:a="http://schemas.openxmlformats.org/drawingml/2006/main">
            <a:off x="4320000" y="3420000"/>
            <a:ext cx="32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All REST API calls use HTTPS. TLS verification is enabled by default; disable only with explicit --no-verify-tls flag for lab environments.</a:t>
            </a:r>
          </a:p>
        </p:txBody>
      </p:sp>
      <p:sp>
        <p:nvSpPr>
          <p:cNvPr id="100086" name="S6"/>
          <p:cNvSpPr txBox="1"/>
          <p:nvPr/>
        </p:nvSpPr>
        <p:spPr>
          <a:xfrm xmlns:a="http://schemas.openxmlformats.org/drawingml/2006/main">
            <a:off x="7920000" y="3060000"/>
            <a:ext cx="34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DB8F5"/>
                </a:solidFill>
              </a:rPr>
              <a:t>Firewall Ports Required</a:t>
            </a:r>
          </a:p>
        </p:txBody>
      </p:sp>
      <p:sp>
        <p:nvSpPr>
          <p:cNvPr id="100087" name="S6d"/>
          <p:cNvSpPr txBox="1"/>
          <p:nvPr/>
        </p:nvSpPr>
        <p:spPr>
          <a:xfrm xmlns:a="http://schemas.openxmlformats.org/drawingml/2006/main">
            <a:off x="7920000" y="3420000"/>
            <a:ext cx="34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TCP 8075 (S-TAP from DB servers)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TCP 8443 (REST API / UI)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TCP 16022 (Guardium SSH)</a:t>
            </a:r>
          </a:p>
          <a:p xmlns:a="http://schemas.openxmlformats.org/drawingml/2006/main">
            <a:r>
              <a:rPr lang="en-US" sz="1100">
                <a:solidFill>
                  <a:srgbClr val="A8B8C8"/>
                </a:solidFill>
              </a:rPr>
              <a:t>TCP 8082 (GIM server)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00088" name="Tag"/>
          <p:cNvSpPr txBox="1"/>
          <p:nvPr/>
        </p:nvSpPr>
        <p:spPr>
          <a:xfrm xmlns:a="http://schemas.openxmlformats.org/drawingml/2006/main">
            <a:off x="720000" y="1440000"/>
            <a:ext cx="104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3DB8F5"/>
                </a:solidFill>
              </a:rPr>
              <a:t>IBM GUARDIUM — DEPLOYMENT AUTOMATION</a:t>
            </a:r>
          </a:p>
        </p:txBody>
      </p:sp>
      <p:sp>
        <p:nvSpPr>
          <p:cNvPr id="100089" name="Title"/>
          <p:cNvSpPr txBox="1"/>
          <p:nvPr/>
        </p:nvSpPr>
        <p:spPr>
          <a:xfrm xmlns:a="http://schemas.openxmlformats.org/drawingml/2006/main">
            <a:off x="720000" y="1980000"/>
            <a:ext cx="1044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0090" name="Sub"/>
          <p:cNvSpPr txBox="1"/>
          <p:nvPr/>
        </p:nvSpPr>
        <p:spPr>
          <a:xfrm xmlns:a="http://schemas.openxmlformats.org/drawingml/2006/main">
            <a:off x="720000" y="3240000"/>
            <a:ext cx="104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8B8C8"/>
                </a:solidFill>
              </a:rPr>
              <a:t>Guardium Data Protection 12.x  |  Full Lifecycle Automation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A8B8C8"/>
                </a:solidFill>
              </a:rPr>
              <a:t>KVM  •  VMware vSphere  •  AWS  •  GCP  •  Azure</a:t>
            </a:r>
          </a:p>
        </p:txBody>
      </p:sp>
      <p:sp>
        <p:nvSpPr>
          <p:cNvPr id="100091" name="Repo"/>
          <p:cNvSpPr txBox="1"/>
          <p:nvPr/>
        </p:nvSpPr>
        <p:spPr>
          <a:xfrm xmlns:a="http://schemas.openxmlformats.org/drawingml/2006/main">
            <a:off x="720000" y="4140000"/>
            <a:ext cx="104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3DB8F5"/>
                </a:solidFill>
              </a:rPr>
              <a:t>Repository:  root@171.78.153.147:/root/guardium-deployment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2026-10-12T16:33:03Z</dcterms:created>
  <cp:lastModifiedBy>OfficeCLI</cp:lastModifiedBy>
  <dcterms:modified xsi:type="dcterms:W3CDTF">2026-10-12T16:33:03Z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2026-10-12T16:40:19Z</vt:lpwstr>
  </op:property>
</op:Properties>
</file>